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2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ROC-AUC por cenário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17-4B86-893C-CBDCB19B05C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817-4B86-893C-CBDCB19B05C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817-4B86-893C-CBDCB19B05CE}"/>
              </c:ext>
            </c:extLst>
          </c:dPt>
          <c:dPt>
            <c:idx val="3"/>
            <c:invertIfNegative val="0"/>
            <c:bubble3D val="0"/>
            <c:spPr>
              <a:solidFill>
                <a:srgbClr val="E3B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17-4B86-893C-CBDCB19B05CE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 sem enr.</c:v>
                </c:pt>
                <c:pt idx="1">
                  <c:v>LR com enr.</c:v>
                </c:pt>
                <c:pt idx="2">
                  <c:v>RF default</c:v>
                </c:pt>
                <c:pt idx="3">
                  <c:v>RF tunado +
enriquecido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0.6079</c:v>
                </c:pt>
                <c:pt idx="1">
                  <c:v>0.61360000000000003</c:v>
                </c:pt>
                <c:pt idx="2">
                  <c:v>0.60940000000000005</c:v>
                </c:pt>
                <c:pt idx="3">
                  <c:v>0.65759999999999996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17-4B86-893C-CBDCB19B05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8"/>
          <c:min val="0.55000000000000004"/>
        </c:scaling>
        <c:delete val="0"/>
        <c:axPos val="l"/>
        <c:majorGridlines>
          <c:spPr>
            <a:ln w="1270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250" b="0" i="0" u="none" strike="noStrike">
                <a:solidFill>
                  <a:srgbClr val="1E2761"/>
                </a:solidFill>
                <a:latin typeface="Cambria"/>
              </a:rPr>
              <a:t>Importância média (|SHAP|) — modelo de aluno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|SHAP| médio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57-4707-B52D-36CF49D795B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E57-4707-B52D-36CF49D795B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E57-4707-B52D-36CF49D795B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E57-4707-B52D-36CF49D795B4}"/>
              </c:ext>
            </c:extLst>
          </c:dPt>
          <c:dPt>
            <c:idx val="4"/>
            <c:invertIfNegative val="0"/>
            <c:bubble3D val="0"/>
            <c:spPr>
              <a:solidFill>
                <a:srgbClr val="E3B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E57-4707-B52D-36CF49D795B4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MEDIA_INSE</c:v>
                </c:pt>
                <c:pt idx="1">
                  <c:v>RENDA_PER_CAPITA_MEDIA</c:v>
                </c:pt>
                <c:pt idx="2">
                  <c:v>REGIAO</c:v>
                </c:pt>
                <c:pt idx="3">
                  <c:v>PC_FAMILIAS_POBREZA</c:v>
                </c:pt>
                <c:pt idx="4">
                  <c:v>SG_UF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1.2999999999999999E-2</c:v>
                </c:pt>
                <c:pt idx="1">
                  <c:v>1.7000000000000001E-2</c:v>
                </c:pt>
                <c:pt idx="2">
                  <c:v>2.1000000000000001E-2</c:v>
                </c:pt>
                <c:pt idx="3">
                  <c:v>2.5999999999999999E-2</c:v>
                </c:pt>
                <c:pt idx="4">
                  <c:v>8.7999999999999995E-2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E57-4707-B52D-36CF49D795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19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preditivo para apoiar decisoes sobre alfabetizacao infantil no Brasil, construido sobre dados publicos do INEP e enriquecido com indicadores socioeconomicos por municipio.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INEP so identifica quem nao se alfabetizou depois da avaliacao anual, quando ja e tarde pra intervir. Objetivo: prever antes da prova, com variaveis conhecidas com antecedencia, pra permitir acao proativa dos gestores.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reconstruida localmente a partir dos microdados do INEP. Modelagem usa o recorte de 2025. Enriquecida com 3 fontes municipais: pobreza (CadUnico), renda (Censo 2022) e nivel socioeconomico escolar (INSE 2023) -- substitutas do Atlas do Desenvolvimento Humano, que nao conseguimos a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balanceado (61,1% vs 38,9%, ponderado). Disparidade real e por UF (44pp), nao por regiao (12pp). Leakage critico identificado e removido: TARGET era 100% deterministico via VL_PROFICIENCIA_LP. ID_ALUNO/ID_ESCOLA sao mascaras re-sorteadas a cada ano, sem sinal individual utilizavel.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sklearn completo. Decisao metodologica: split aleatorio 70/30 em 2025, nao temporal (2023-2024 para 2025), porque a taxa real mudava entre recortes. Treino e metricas usam o peso amostral oficial do INEP.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cenarios comparados. RandomForest com enriquecimento venceu em todas as metricas e foi o unico acima do baseline de sempre prever a classe majoritaria. Escolhido pelo resultado e por permitir interpretacao via SHAP.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RandomizedSearchCV no modelo de aluno (10 combinacoes x 3-fold CV, amostra 300 mil). GridSearchCV no modelo municipal (36 combinacoes x 5-fold CV). A combinacao max_depth sem limite + min_samples_leaf=98 nunca tinha sido testada manualmente e resolveu boa parte da degeneracao de recall por 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Metricas no teste (666.838 alunos, nunca vistos). RandomForest tunado + enriquecido: acuracia 0,6287, precisao 0,6461, recall 0,8162, F1 0,7213, AUC 0,6576. Melhora real mas modesta sobre o baseline de 0,5886 -- esperado, ja que as features nao variam por aluno.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SG_UF domina a importancia SHAP; PC_FAMILIAS_POBREZA e a variavel individual mais importante do modelo inteiro. Modelo municipal de risco: AUC 0,663, recall 64% na classe de risco. Clustering (k=3) mostra que os padroes reais nao coincidem com as 5 regioes oficiais do IBGE.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e ferramenta exploratoria de perfil/grupo, nao de decisao individual. Aplicacao pratica: cruzar pobreza, renda e INSE por municipio, sempre segmentado por UF. Proximos passos: calibracao de limiar por UF, class_weight balanceado, testar XGBoost/LightGBM.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457200"/>
            <a:ext cx="2926080" cy="2926080"/>
          </a:xfrm>
          <a:prstGeom prst="ellipse">
            <a:avLst/>
          </a:prstGeom>
          <a:solidFill>
            <a:srgbClr val="243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Predição e Inteligência Analítica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Alfabetização no Brasil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supervisionado sobre microdados INEP, enriquecido com indicadores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socioeconômicos municipais — pobreza, renda e nível socioeconômico escolar.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89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FFFFFF"/>
                </a:solidFill>
                <a:latin typeface="Calibri"/>
              </a:rPr>
              <a:t>Pós-Tech em Data Analytics  ·  Tech Challenge — Fase 3</a:t>
            </a:r>
            <a:endParaRPr lang="en-US" sz="1200" dirty="0"/>
          </a:p>
          <a:p>
            <a:r>
              <a:rPr sz="1050" b="0">
                <a:solidFill>
                  <a:srgbClr val="CADCFC"/>
                </a:solidFill>
                <a:latin typeface="Calibri"/>
              </a:rPr>
              <a:t>Afonso Augusto Santana Sales Rios (RM 373057)  ·  Bruno Macedo da Silva (RM 374187)</a:t>
            </a:r>
          </a:p>
          <a:p>
            <a:r>
              <a:rPr sz="1050" b="0">
                <a:solidFill>
                  <a:srgbClr val="CADCFC"/>
                </a:solidFill>
                <a:latin typeface="Calibri"/>
              </a:rPr>
              <a:t>Dinaldo Ribeiro de Carvalho (RM 370350)  ·  Luís Gustavo Juliano de França (RM 371599)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40080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5.570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6,09M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(2023–2025)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61,1%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alfabetizados (ponderado)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55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Compromisso Nacional Criança Alfabetizada estabelece meta de alfabetizar toda criança até o fim do 2º ano do Ensino Fundamental.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o INEP só identifica quem não se alfabetizou depois da avaliação anual — quando já é tarde para intervir naquele ano letivo.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755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Analítico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2316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Prever, antes da prova, se um aluno será considerado alfabetizado — com base em variáveis territoriais e socioeconômicas já conhecidas.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que gestores públicos direcionem reforço escolar, merenda e material didático de forma proativa, não reativa.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Abordagem: Os Dois Modelos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55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Aluno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técnico central do desafio: pipeline completo em scikit-learn, tratamento de leakage e validação cruzada.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SHAP revelou um limite real dos dados públicos: 2,2M alunos colapsam em ~6.500 combinações únicas de características — sem sinal individual suficiente.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755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Municipal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2316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Motivado pelo próprio achado de interpretabilidade do modelo de aluno — no nível onde as features realmente variam de município pra município.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às perguntas de negócio do desafio: fatores mais influentes, municípios de maior risco, padrões regionais e previsão de metas futuras.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77240" y="1481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6,09M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21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— FT_MACHINE_LEARNING (2023–2025)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72000" y="1481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2.222.792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21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usadas na modelagem (recorte 2025)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366760" y="1481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121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externas de enriquecimento municipal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Enriquecimento externo por município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22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Pobreza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20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Único (VIS Data 3) — % de famílias na faixa de pobreza do PBF por município, 08/2026.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361188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17720" y="3840480"/>
            <a:ext cx="548640" cy="548640"/>
          </a:xfrm>
          <a:prstGeom prst="ellipse">
            <a:avLst/>
          </a:prstGeom>
          <a:solidFill>
            <a:srgbClr val="2C7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6177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5720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2022 (SIDRA, tabela 10295) — renda per capita média por município, divulgado em out/2025.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361188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412480" y="3840480"/>
            <a:ext cx="548640" cy="54864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84124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5720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INEP/SAEB 2023 — nível socioeconômico escolar médio por município.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 — Principais Achados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" cy="233172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4400" y="16184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61,1% vs 38,9%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balanceado (ponderado por VL_PESO_ALUNO_LP) — dispensa balanceamento artificial (SMOTE).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109728" cy="2331720"/>
          </a:xfrm>
          <a:prstGeom prst="roundRect">
            <a:avLst/>
          </a:prstGeom>
          <a:solidFill>
            <a:srgbClr val="E3B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629400" y="16184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p.p.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Disparidade real está por UF, não por região: Ceará (84,5%) vs. Sergipe (40,1%) — mesma região, extremos opostos.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09728" cy="233172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14400" y="4133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crítico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00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era 100% determinístico a partir de VL_PROFICIENCIA_LP e flags de participação — variáveis removidas da modelagem.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9319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109728" cy="2331720"/>
          </a:xfrm>
          <a:prstGeom prst="roundRect">
            <a:avLst/>
          </a:prstGeom>
          <a:solidFill>
            <a:srgbClr val="E3B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629400" y="4133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 não persistentes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800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ID_ALUNO e ID_ESCOLA são máscaras re-sorteadas a cada ano pelo INEP — sem sinal individual utilizável entre anos.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— Pipeline de Modelagem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 — pré-processamento e modelo em um único objeto (src/modeling/pipeline.py)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35024" y="187452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33502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VL_PROFICIENCIA_LP, flags de participação e derivadas (features.py)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670048" y="1783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85032" y="187452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68503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98648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encoding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352044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territoriais e socioeconômicas por município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020056" y="1783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0350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248656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sklearn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248656" y="352044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+ modelo em um único objeto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70064" y="1783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385048" y="187452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38504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598664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2025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70/30 estratificado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598664" y="352044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Aleatório por TARGET — split temporal descartado (ver limitações)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20072" y="1783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735056" y="1874520"/>
            <a:ext cx="640080" cy="64008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073505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948672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sample_weight =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VL_PESO_ALUNO_LP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948672" y="352044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amostral oficial do INEP aplicado em treino e métricas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do Algoritmo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x RandomForestClassifier, com e sem enriquecimento socioeconômico — split 2025, 70/30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3774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Enriquecimento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(default)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(tunado)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14400" y="4526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tunado + enriquecimento venceu em todas as métricas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foi o único cenário a superar o baseline de "sempre prever a classe majoritária" (acurácia ponderada de 0,5886 no teste).</a:t>
            </a:r>
            <a:endParaRPr lang="en-US" sz="1600" dirty="0"/>
          </a:p>
        </p:txBody>
      </p:sp>
      <p:sp>
        <p:nvSpPr>
          <p:cNvPr id="4" name="Text 4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 por ser o melhor resultado e por permitir interpretação via SHAP.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Otimização de Hiperparâmetros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1440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Aluno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combinações × 3-fold CV, em amostra estratificada de 300 mil linhas (treino completo: 1,56 milhão — caro demais para busca exaustiva).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Hiperparâmetros finais: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 = 148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 = None (sem limite)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min_samples_leaf = 98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58368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Municipal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combinações × 5-fold CV estratificado, no conjunto de treino (n_estimators, max_depth, min_samples_leaf).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metodológico: CV reportou AUC médio de 0,772 no treino, mas o modelo só chegou a 0,663 no teste real (2025, nunca visto).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77240" y="4956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 → 30%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4681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 com recall degenerado (aluno)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484632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72000" y="4956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0,638 → 0,658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54681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do modelo de aluno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484632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8366760" y="4956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 → 64%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54681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na classe de risco (município)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Finais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666.838 alunos (30% de 2025), nunca vistos no treino ou no tuning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7607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RandomForest tunado + enriquecimento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0" y="2103120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6812280" y="2103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0,6287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0" y="2926080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681228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509760" y="2926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0,6461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0" y="3749040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6812280" y="3749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509760" y="3749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0,8162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583680" y="4572000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6812280" y="4572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50976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0,7213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583680" y="5394960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6812280" y="5394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509760" y="5394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0,6576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6309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(classe majoritária, ponderado): 0,5886 de acurácia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Interpretação (SHAP) e Perguntas de Negócio</a:t>
            </a:r>
            <a:endParaRPr lang="en-US" sz="27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88720"/>
          <a:ext cx="5760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26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SG_UF domina; PC_FAMILIAS_POBREZA é a variável individual mais importante do modelo inteiro.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583680" y="1188720"/>
            <a:ext cx="5029200" cy="233172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por Município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78308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municipal pontua os 5.500 municípios pela probabilidade de não bater a meta no próximo ciclo.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0,663  ·  Recall = 64%  (80% com limiar calibrado)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0" y="3703320"/>
            <a:ext cx="5029200" cy="233172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85800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Padrões Regionais (Clustering)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429768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(k=3, via silhouette score) por perfil socioeconômico + educacional, sem usar região/UF como feature.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clusters não coincidem com as 5 regiões do IBGE — o Nordeste se divide em 2 clusters opostos.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493776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e Próximos Passos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~340 alunos compartilham a mesma previsão dentro de cada combinação de features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restrita a 2025 (split aleatório, não temporal)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27 UFs ainda com recall degenerado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417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96596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pobreza, renda e INSE por município para priorizar visitas técnicas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segmentar previsões por UF, não por região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perfil/grupo — não de decisão individual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sz="1250">
                <a:solidFill>
                  <a:srgbClr val="CADCFC"/>
                </a:solidFill>
                <a:latin typeface="Calibri"/>
              </a:rPr>
              <a:t>Recall de até 80% na classe de risco via calibração de limiar — sem retreinar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8138160" y="1417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96596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de limiar por UF (modelo de aluno)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class_weight="balanced"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testado e descartado (AUC 0,613 vs. 0,663) — próximo: LightGBM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24306E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– Fase 3  |  Predição de Alfabetização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1758</Words>
  <Application>Microsoft Office PowerPoint</Application>
  <PresentationFormat>Widescreen</PresentationFormat>
  <Paragraphs>224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Dinaldo Ribeiro de Carvalho</cp:lastModifiedBy>
  <cp:revision>1</cp:revision>
  <dcterms:created xsi:type="dcterms:W3CDTF">2026-09-03T22:46:47Z</dcterms:created>
  <dcterms:modified xsi:type="dcterms:W3CDTF">2026-09-08T21:56:46Z</dcterms:modified>
</cp:coreProperties>
</file>